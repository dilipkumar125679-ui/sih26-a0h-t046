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E3E02"/>
    <a:srgbClr val="FD8003"/>
    <a:srgbClr val="39B0D4"/>
    <a:srgbClr val="660066"/>
    <a:srgbClr val="9BBB59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-876" y="-1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 snapToObjects="1">
      <p:cViewPr varScale="1">
        <p:scale>
          <a:sx n="52" d="100"/>
          <a:sy n="52" d="100"/>
        </p:scale>
        <p:origin x="-2892" y="-108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pPr/>
              <a:t>8/29/2026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pPr/>
              <a:t>8/29/2026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pPr/>
              <a:t>8/29/2026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xmlns="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xmlns="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-241317" y="-539187"/>
            <a:ext cx="10735815" cy="2375602"/>
          </a:xfrm>
        </p:spPr>
        <p:txBody>
          <a:bodyPr/>
          <a:lstStyle/>
          <a:p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SMART </a:t>
            </a:r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579358"/>
            <a:ext cx="5924550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-- </a:t>
            </a:r>
            <a:r>
              <a:rPr lang="en-US" sz="2400" b="1" u="sng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SIH26127</a:t>
            </a:r>
            <a:endParaRPr lang="en-US" sz="2400" b="1" u="sng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Title -- </a:t>
            </a:r>
            <a:r>
              <a:rPr lang="en-US" sz="2400" b="1" spc="-150" dirty="0" smtClean="0">
                <a:solidFill>
                  <a:srgbClr val="FE3E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City-Wide AI Engine for Multi-Camera ANPR Trajectory Tracking and Urban Traffic Analysis </a:t>
            </a:r>
            <a:endParaRPr lang="en-US" sz="2400" b="1" spc="-150" dirty="0">
              <a:solidFill>
                <a:srgbClr val="FE3E0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US" sz="2400" b="1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Transportation &amp; Logistics</a:t>
            </a:r>
            <a:endParaRPr lang="en-US" sz="24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endParaRPr lang="en-US" sz="2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ID- </a:t>
            </a:r>
            <a:r>
              <a:rPr lang="en-US" sz="2400" b="1" dirty="0" smtClean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SIH26-A0H-T046</a:t>
            </a:r>
            <a:endParaRPr lang="en-US" sz="2400" b="1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4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r>
              <a:rPr lang="en-US" sz="2400" b="1" dirty="0" smtClean="0">
                <a:solidFill>
                  <a:srgbClr val="FE3E0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NOVA</a:t>
            </a:r>
            <a:endParaRPr lang="en-IN" sz="2400" b="1" dirty="0">
              <a:solidFill>
                <a:srgbClr val="FE3E0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@SIH Idea submission- Template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5361" name="Title 1"/>
          <p:cNvSpPr>
            <a:spLocks noGrp="1"/>
          </p:cNvSpPr>
          <p:nvPr>
            <p:ph type="title" idx="4294967295"/>
          </p:nvPr>
        </p:nvSpPr>
        <p:spPr>
          <a:xfrm>
            <a:off x="1" y="-305597"/>
            <a:ext cx="10972800" cy="1143000"/>
          </a:xfrm>
        </p:spPr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b="1" u="sng" dirty="0" err="1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CityTrace</a:t>
            </a:r>
            <a:r>
              <a:rPr lang="en-US" b="1" u="sng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AI</a:t>
            </a:r>
            <a:endParaRPr lang="en-US" b="1" u="sng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095375"/>
            <a:ext cx="12191999" cy="5386090"/>
          </a:xfrm>
          <a:prstGeom prst="rect">
            <a:avLst/>
          </a:prstGeom>
          <a:noFill/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US" sz="2800" b="1" i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AI-Powered Multi-Camera Vehicle Trajectory &amp; Traffic Analytics Platform</a:t>
            </a:r>
          </a:p>
          <a:p>
            <a:pPr marL="342900" indent="-342900"/>
            <a:endParaRPr lang="en-US" sz="2400" b="1" u="sng" dirty="0" smtClean="0">
              <a:solidFill>
                <a:schemeClr val="accent2">
                  <a:lumMod val="75000"/>
                </a:schemeClr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342900" indent="-342900"/>
            <a:r>
              <a:rPr lang="en-US" sz="2400" b="1" u="sng" dirty="0" smtClean="0">
                <a:solidFill>
                  <a:schemeClr val="accent2">
                    <a:lumMod val="75000"/>
                  </a:schemeClr>
                </a:solidFill>
                <a:effectLst/>
                <a:latin typeface="Arial" pitchFamily="34" charset="0"/>
                <a:cs typeface="Arial" pitchFamily="34" charset="0"/>
              </a:rPr>
              <a:t>Proposed Solution:</a:t>
            </a:r>
          </a:p>
          <a:p>
            <a:pPr marL="342900" indent="-342900"/>
            <a:r>
              <a:rPr lang="en-US" sz="2000" b="1" i="1" dirty="0" smtClean="0">
                <a:solidFill>
                  <a:schemeClr val="accent4">
                    <a:lumMod val="75000"/>
                  </a:schemeClr>
                </a:solidFill>
                <a:effectLst/>
              </a:rPr>
              <a:t>&gt;&gt;Centralized AI platform integrating multiple CCTV/ANPR camera feeds.</a:t>
            </a:r>
          </a:p>
          <a:p>
            <a:pPr marL="342900" indent="-342900"/>
            <a:r>
              <a:rPr lang="en-US" sz="2000" b="1" i="1" dirty="0" smtClean="0">
                <a:solidFill>
                  <a:schemeClr val="accent4">
                    <a:lumMod val="75000"/>
                  </a:schemeClr>
                </a:solidFill>
                <a:effectLst/>
              </a:rPr>
              <a:t> &gt;&gt;Detects vehicles and recognizes registration plates. </a:t>
            </a:r>
          </a:p>
          <a:p>
            <a:pPr marL="342900" indent="-342900"/>
            <a:r>
              <a:rPr lang="en-US" sz="2000" b="1" i="1" dirty="0" smtClean="0">
                <a:solidFill>
                  <a:schemeClr val="accent4">
                    <a:lumMod val="75000"/>
                  </a:schemeClr>
                </a:solidFill>
                <a:effectLst/>
              </a:rPr>
              <a:t>&gt;&gt;Links vehicle observations across different cameras and timestamps.</a:t>
            </a:r>
          </a:p>
          <a:p>
            <a:pPr marL="342900" indent="-342900"/>
            <a:r>
              <a:rPr lang="en-US" sz="2000" b="1" i="1" dirty="0" smtClean="0">
                <a:solidFill>
                  <a:schemeClr val="accent4">
                    <a:lumMod val="75000"/>
                  </a:schemeClr>
                </a:solidFill>
                <a:effectLst/>
              </a:rPr>
              <a:t> &gt;&gt;Generates city-wide vehicle trajectories and traffic insights.</a:t>
            </a:r>
            <a:endParaRPr lang="en-US" sz="2000" b="1" i="1" u="sng" dirty="0">
              <a:solidFill>
                <a:schemeClr val="accent4">
                  <a:lumMod val="75000"/>
                </a:schemeClr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342900" indent="-342900" algn="just"/>
            <a:r>
              <a:rPr lang="en-US" sz="2400" b="1" u="sng" dirty="0" smtClean="0"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rPr>
              <a:t>How </a:t>
            </a:r>
            <a:r>
              <a:rPr lang="en-US" sz="2400" b="1" u="sng" dirty="0"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rPr>
              <a:t>it addresses the </a:t>
            </a:r>
            <a:r>
              <a:rPr lang="en-US" sz="2400" b="1" u="sng" dirty="0" smtClean="0"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rPr>
              <a:t>problem:</a:t>
            </a:r>
          </a:p>
          <a:p>
            <a:pPr marL="342900" indent="-342900" algn="just"/>
            <a:r>
              <a:rPr lang="en-US" sz="2000" b="1" i="1" dirty="0" smtClean="0">
                <a:effectLst/>
              </a:rPr>
              <a:t>*Eliminates isolated camera-wise monitoring. </a:t>
            </a:r>
          </a:p>
          <a:p>
            <a:pPr marL="342900" indent="-342900" algn="just"/>
            <a:r>
              <a:rPr lang="en-US" sz="2000" b="1" i="1" dirty="0" smtClean="0">
                <a:effectLst/>
              </a:rPr>
              <a:t>*Enables cross-camera vehicle tracking. </a:t>
            </a:r>
          </a:p>
          <a:p>
            <a:pPr marL="342900" indent="-342900" algn="just"/>
            <a:r>
              <a:rPr lang="en-US" sz="2000" b="1" i="1" dirty="0" smtClean="0">
                <a:effectLst/>
              </a:rPr>
              <a:t>*Provides a unified view of vehicle movement.</a:t>
            </a:r>
          </a:p>
          <a:p>
            <a:pPr marL="342900" indent="-342900" algn="just"/>
            <a:r>
              <a:rPr lang="en-US" sz="2000" b="1" i="1" dirty="0" smtClean="0">
                <a:effectLst/>
              </a:rPr>
              <a:t>*Converts camera data into actionable urban traffic analytics.</a:t>
            </a:r>
            <a:endParaRPr lang="en-US" sz="2000" b="1" i="1" u="sng" dirty="0">
              <a:solidFill>
                <a:srgbClr val="FF0000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342900" indent="-342900" algn="just"/>
            <a:r>
              <a:rPr lang="en-US" sz="2400" b="1" u="sng" dirty="0">
                <a:solidFill>
                  <a:srgbClr val="FFC000"/>
                </a:solidFill>
                <a:effectLst/>
                <a:latin typeface="Arial" pitchFamily="34" charset="0"/>
                <a:cs typeface="Arial" pitchFamily="34" charset="0"/>
              </a:rPr>
              <a:t>Innovation and uniqueness of the </a:t>
            </a:r>
            <a:r>
              <a:rPr lang="en-US" sz="2400" b="1" u="sng" dirty="0" smtClean="0">
                <a:solidFill>
                  <a:srgbClr val="FFC000"/>
                </a:solidFill>
                <a:effectLst/>
                <a:latin typeface="Arial" pitchFamily="34" charset="0"/>
                <a:cs typeface="Arial" pitchFamily="34" charset="0"/>
              </a:rPr>
              <a:t>solution: </a:t>
            </a:r>
          </a:p>
          <a:p>
            <a:pPr marL="342900" indent="-342900" algn="just"/>
            <a:r>
              <a:rPr lang="en-US" sz="2000" b="1" i="1" dirty="0" smtClean="0">
                <a:solidFill>
                  <a:schemeClr val="accent5">
                    <a:lumMod val="50000"/>
                  </a:schemeClr>
                </a:solidFill>
                <a:effectLst/>
              </a:rPr>
              <a:t>^Combines ANPR + vehicle tracking + cross-camera correlation + trajectory analytics in one platform.</a:t>
            </a:r>
          </a:p>
          <a:p>
            <a:pPr marL="342900" indent="-342900" algn="just"/>
            <a:r>
              <a:rPr lang="en-US" sz="2000" b="1" i="1" dirty="0" smtClean="0">
                <a:solidFill>
                  <a:schemeClr val="accent5">
                    <a:lumMod val="50000"/>
                  </a:schemeClr>
                </a:solidFill>
                <a:effectLst/>
              </a:rPr>
              <a:t>^</a:t>
            </a:r>
            <a:r>
              <a:rPr lang="en-US" sz="2000" b="1" i="1" dirty="0" err="1" smtClean="0">
                <a:solidFill>
                  <a:schemeClr val="accent5">
                    <a:lumMod val="50000"/>
                  </a:schemeClr>
                </a:solidFill>
                <a:effectLst/>
              </a:rPr>
              <a:t>Spatio</a:t>
            </a:r>
            <a:r>
              <a:rPr lang="en-US" sz="2000" b="1" i="1" dirty="0" smtClean="0">
                <a:solidFill>
                  <a:schemeClr val="accent5">
                    <a:lumMod val="50000"/>
                  </a:schemeClr>
                </a:solidFill>
                <a:effectLst/>
              </a:rPr>
              <a:t>-temporal matching connects observations from different locations.</a:t>
            </a:r>
          </a:p>
          <a:p>
            <a:pPr marL="342900" indent="-342900" algn="just"/>
            <a:r>
              <a:rPr lang="en-US" sz="2000" b="1" i="1" dirty="0" smtClean="0">
                <a:solidFill>
                  <a:schemeClr val="accent5">
                    <a:lumMod val="50000"/>
                  </a:schemeClr>
                </a:solidFill>
                <a:effectLst/>
              </a:rPr>
              <a:t>^Interactive city-level visualization of vehicle movement and traffic patterns.</a:t>
            </a:r>
            <a:endParaRPr lang="en-US" sz="2000" b="1" i="1" u="sng" dirty="0">
              <a:solidFill>
                <a:schemeClr val="accent5">
                  <a:lumMod val="50000"/>
                </a:schemeClr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2" name="Picture 11" descr="codenova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1501"/>
            <a:ext cx="1111348" cy="835902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0" y="3507698"/>
            <a:ext cx="8737600" cy="149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1" y="5081666"/>
            <a:ext cx="10762937" cy="149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 idx="4294967295"/>
          </p:nvPr>
        </p:nvSpPr>
        <p:spPr>
          <a:xfrm>
            <a:off x="182880" y="-358504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</a:t>
            </a:r>
            <a:r>
              <a:rPr lang="en-US" sz="3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APPROACH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1095375"/>
            <a:ext cx="2865120" cy="5755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u="sng" dirty="0" smtClean="0">
                <a:solidFill>
                  <a:srgbClr val="FE3E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Technology Stack</a:t>
            </a:r>
          </a:p>
          <a:p>
            <a:pPr algn="ctr"/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i="1" dirty="0" smtClean="0">
                <a:solidFill>
                  <a:srgbClr val="7030A0"/>
                </a:solidFill>
              </a:rPr>
              <a:t>Python</a:t>
            </a:r>
            <a:r>
              <a:rPr lang="en-US" i="1" dirty="0" smtClean="0">
                <a:solidFill>
                  <a:srgbClr val="7030A0"/>
                </a:solidFill>
              </a:rPr>
              <a:t> – AI &amp; backend development </a:t>
            </a:r>
          </a:p>
          <a:p>
            <a:endParaRPr lang="en-US" i="1" dirty="0" smtClean="0">
              <a:solidFill>
                <a:srgbClr val="7030A0"/>
              </a:solidFill>
            </a:endParaRPr>
          </a:p>
          <a:p>
            <a:r>
              <a:rPr lang="en-US" b="1" i="1" dirty="0" smtClean="0">
                <a:solidFill>
                  <a:srgbClr val="7030A0"/>
                </a:solidFill>
              </a:rPr>
              <a:t>YOLO</a:t>
            </a:r>
            <a:r>
              <a:rPr lang="en-US" i="1" dirty="0" smtClean="0">
                <a:solidFill>
                  <a:srgbClr val="7030A0"/>
                </a:solidFill>
              </a:rPr>
              <a:t> – Vehicle detection</a:t>
            </a:r>
          </a:p>
          <a:p>
            <a:r>
              <a:rPr lang="en-US" i="1" dirty="0" smtClean="0">
                <a:solidFill>
                  <a:srgbClr val="7030A0"/>
                </a:solidFill>
              </a:rPr>
              <a:t> </a:t>
            </a:r>
          </a:p>
          <a:p>
            <a:r>
              <a:rPr lang="en-US" b="1" i="1" dirty="0" err="1" smtClean="0">
                <a:solidFill>
                  <a:srgbClr val="7030A0"/>
                </a:solidFill>
              </a:rPr>
              <a:t>OpenCV</a:t>
            </a:r>
            <a:r>
              <a:rPr lang="en-US" i="1" dirty="0" smtClean="0">
                <a:solidFill>
                  <a:srgbClr val="7030A0"/>
                </a:solidFill>
              </a:rPr>
              <a:t> – Video/image processing </a:t>
            </a:r>
          </a:p>
          <a:p>
            <a:endParaRPr lang="en-US" i="1" dirty="0" smtClean="0">
              <a:solidFill>
                <a:srgbClr val="7030A0"/>
              </a:solidFill>
            </a:endParaRPr>
          </a:p>
          <a:p>
            <a:r>
              <a:rPr lang="en-US" b="1" i="1" dirty="0" smtClean="0">
                <a:solidFill>
                  <a:srgbClr val="7030A0"/>
                </a:solidFill>
              </a:rPr>
              <a:t>OCR</a:t>
            </a:r>
            <a:r>
              <a:rPr lang="en-US" i="1" dirty="0" smtClean="0">
                <a:solidFill>
                  <a:srgbClr val="7030A0"/>
                </a:solidFill>
              </a:rPr>
              <a:t> – Number plate recognition </a:t>
            </a:r>
          </a:p>
          <a:p>
            <a:endParaRPr lang="en-US" i="1" dirty="0" smtClean="0">
              <a:solidFill>
                <a:srgbClr val="7030A0"/>
              </a:solidFill>
            </a:endParaRPr>
          </a:p>
          <a:p>
            <a:r>
              <a:rPr lang="en-US" b="1" i="1" dirty="0" err="1" smtClean="0">
                <a:solidFill>
                  <a:srgbClr val="7030A0"/>
                </a:solidFill>
              </a:rPr>
              <a:t>FastAPI</a:t>
            </a:r>
            <a:r>
              <a:rPr lang="en-US" i="1" dirty="0" smtClean="0">
                <a:solidFill>
                  <a:srgbClr val="7030A0"/>
                </a:solidFill>
              </a:rPr>
              <a:t> – Backend APIs </a:t>
            </a:r>
          </a:p>
          <a:p>
            <a:endParaRPr lang="en-US" i="1" dirty="0" smtClean="0">
              <a:solidFill>
                <a:srgbClr val="7030A0"/>
              </a:solidFill>
            </a:endParaRPr>
          </a:p>
          <a:p>
            <a:r>
              <a:rPr lang="en-US" b="1" i="1" dirty="0" smtClean="0">
                <a:solidFill>
                  <a:srgbClr val="7030A0"/>
                </a:solidFill>
              </a:rPr>
              <a:t>React</a:t>
            </a:r>
            <a:r>
              <a:rPr lang="en-US" i="1" dirty="0" smtClean="0">
                <a:solidFill>
                  <a:srgbClr val="7030A0"/>
                </a:solidFill>
              </a:rPr>
              <a:t> – Web dashboard</a:t>
            </a:r>
          </a:p>
          <a:p>
            <a:r>
              <a:rPr lang="en-US" i="1" dirty="0" smtClean="0">
                <a:solidFill>
                  <a:srgbClr val="7030A0"/>
                </a:solidFill>
              </a:rPr>
              <a:t> </a:t>
            </a:r>
          </a:p>
          <a:p>
            <a:r>
              <a:rPr lang="en-US" b="1" i="1" dirty="0" err="1" smtClean="0">
                <a:solidFill>
                  <a:srgbClr val="7030A0"/>
                </a:solidFill>
              </a:rPr>
              <a:t>PostgreSQL</a:t>
            </a:r>
            <a:r>
              <a:rPr lang="en-US" i="1" dirty="0" smtClean="0">
                <a:solidFill>
                  <a:srgbClr val="7030A0"/>
                </a:solidFill>
              </a:rPr>
              <a:t> – Vehicle &amp; event data storage</a:t>
            </a:r>
          </a:p>
          <a:p>
            <a:pPr marL="342900" indent="-342900" algn="just"/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9" name="Picture 8" descr="codenova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00"/>
            <a:ext cx="1041009" cy="782996"/>
          </a:xfrm>
          <a:prstGeom prst="rect">
            <a:avLst/>
          </a:prstGeom>
        </p:spPr>
      </p:pic>
      <p:pic>
        <p:nvPicPr>
          <p:cNvPr id="13" name="Picture 12" descr="WhatsApp Image 2026-08-28 at 23.54.50.jpeg"/>
          <p:cNvPicPr>
            <a:picLocks noChangeAspect="1"/>
          </p:cNvPicPr>
          <p:nvPr/>
        </p:nvPicPr>
        <p:blipFill>
          <a:blip r:embed="rId5"/>
          <a:srcRect t="8821"/>
          <a:stretch>
            <a:fillRect/>
          </a:stretch>
        </p:blipFill>
        <p:spPr>
          <a:xfrm>
            <a:off x="3108960" y="784497"/>
            <a:ext cx="5037797" cy="594319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TextBox 14"/>
          <p:cNvSpPr txBox="1"/>
          <p:nvPr/>
        </p:nvSpPr>
        <p:spPr>
          <a:xfrm>
            <a:off x="8525022" y="1095375"/>
            <a:ext cx="350491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_Process vehicle detections from multiple cameras.</a:t>
            </a:r>
          </a:p>
          <a:p>
            <a:endParaRPr lang="en-US" sz="2000" b="1" i="1" dirty="0" smtClean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000" b="1" i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_Associate the same vehicle across different locations using plate and visual features.</a:t>
            </a:r>
          </a:p>
          <a:p>
            <a:endParaRPr lang="en-US" sz="2000" b="1" i="1" dirty="0" smtClean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000" b="1" i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_Store vehicle ID + camera location + timestamp for every detection.</a:t>
            </a:r>
          </a:p>
          <a:p>
            <a:endParaRPr lang="en-US" sz="2000" b="1" i="1" dirty="0" smtClean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000" b="1" i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_Reconstruct vehicle movement paths across the monitored city. </a:t>
            </a:r>
          </a:p>
          <a:p>
            <a:endParaRPr lang="en-US" sz="2000" b="1" i="1" dirty="0" smtClean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000" b="1" i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_Generate traffic-flow and journey analytics on a unified dashboard</a:t>
            </a:r>
            <a:r>
              <a:rPr lang="en-US" b="1" i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US" b="1" i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solidFill>
                  <a:srgbClr val="660066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9" name="Picture 8" descr="codenova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70671" cy="7455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64037" y="1063837"/>
            <a:ext cx="4290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8737600" y="1095375"/>
            <a:ext cx="345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1063837"/>
            <a:ext cx="3387777" cy="572464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 smtClean="0">
                <a:solidFill>
                  <a:schemeClr val="accent3">
                    <a:lumMod val="50000"/>
                  </a:schemeClr>
                </a:solidFill>
              </a:rPr>
              <a:t>Feasibility</a:t>
            </a:r>
          </a:p>
          <a:p>
            <a:endParaRPr lang="en-US" dirty="0" smtClean="0"/>
          </a:p>
          <a:p>
            <a:r>
              <a:rPr lang="en-US" i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&gt;Uses existing CCTV/ANPR camera infrastructure.</a:t>
            </a:r>
          </a:p>
          <a:p>
            <a:endParaRPr lang="en-US" i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i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&gt;AI models can process vehicle and number-plate data from multiple camera feeds.</a:t>
            </a:r>
          </a:p>
          <a:p>
            <a:endParaRPr lang="en-US" i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i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&gt;Centralized architecture enables integration of cameras across different locations.</a:t>
            </a:r>
          </a:p>
          <a:p>
            <a:endParaRPr lang="en-US" i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i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&gt;Prototype can be developed and tested using recorded/simulated camera feeds.</a:t>
            </a:r>
          </a:p>
          <a:p>
            <a:endParaRPr lang="en-US" i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 smtClean="0">
              <a:solidFill>
                <a:srgbClr val="002060"/>
              </a:solidFill>
            </a:endParaRPr>
          </a:p>
          <a:p>
            <a:endParaRPr lang="en-US" dirty="0" smtClean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87777" y="1063837"/>
            <a:ext cx="2668249" cy="5663089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 smtClean="0">
                <a:solidFill>
                  <a:srgbClr val="FF0000"/>
                </a:solidFill>
              </a:rPr>
              <a:t>Key Challenges / Risks</a:t>
            </a:r>
          </a:p>
          <a:p>
            <a:endParaRPr lang="en-US" dirty="0" smtClean="0"/>
          </a:p>
          <a:p>
            <a:r>
              <a:rPr lang="en-US" i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-Low-quality or partially visible number plates.</a:t>
            </a:r>
          </a:p>
          <a:p>
            <a:endParaRPr lang="en-US" i="1" dirty="0" smtClean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i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-Different camera angles, lighting and weather conditions.</a:t>
            </a:r>
          </a:p>
          <a:p>
            <a:endParaRPr lang="en-US" i="1" dirty="0" smtClean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i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-Matching the same vehicle across multiple cameras.</a:t>
            </a:r>
          </a:p>
          <a:p>
            <a:endParaRPr lang="en-US" i="1" dirty="0" smtClean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i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-High processing and storage requirements for large camera networks.</a:t>
            </a:r>
          </a:p>
          <a:p>
            <a:endParaRPr lang="en-US" i="1" dirty="0" smtClean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17" name="TextBox 16"/>
          <p:cNvSpPr txBox="1"/>
          <p:nvPr/>
        </p:nvSpPr>
        <p:spPr>
          <a:xfrm>
            <a:off x="6056026" y="1063837"/>
            <a:ext cx="2908092" cy="563231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 smtClean="0">
                <a:solidFill>
                  <a:srgbClr val="00B050"/>
                </a:solidFill>
              </a:rPr>
              <a:t>Mitigation Strategies</a:t>
            </a:r>
          </a:p>
          <a:p>
            <a:endParaRPr lang="en-US" dirty="0" smtClean="0"/>
          </a:p>
          <a:p>
            <a:r>
              <a:rPr lang="en-US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*Use image preprocessing and robust OCR for difficult plates.</a:t>
            </a:r>
          </a:p>
          <a:p>
            <a:endParaRPr lang="en-US" i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*Combine number-plate information + vehicle visual features + timestamp/location for re-identification.</a:t>
            </a:r>
          </a:p>
          <a:p>
            <a:endParaRPr lang="en-US" i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*Use confidence scores and temporal/spatial constraints for reliable matching.</a:t>
            </a:r>
          </a:p>
          <a:p>
            <a:endParaRPr lang="en-US" i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*Design the system with scalable processing and database architecture.</a:t>
            </a:r>
          </a:p>
          <a:p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8964118" y="1063837"/>
            <a:ext cx="3227882" cy="563231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 smtClean="0">
                <a:solidFill>
                  <a:schemeClr val="accent2">
                    <a:lumMod val="75000"/>
                  </a:schemeClr>
                </a:solidFill>
              </a:rPr>
              <a:t>Viability</a:t>
            </a:r>
          </a:p>
          <a:p>
            <a:endParaRPr lang="en-US" dirty="0" smtClean="0"/>
          </a:p>
          <a:p>
            <a:r>
              <a:rPr lang="en-US" i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^Software-first solution → no specialized hardware required for the prototype.</a:t>
            </a:r>
          </a:p>
          <a:p>
            <a:endParaRPr lang="en-US" i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i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^Can start with a small number of cameras and scale to larger networks.</a:t>
            </a:r>
          </a:p>
          <a:p>
            <a:endParaRPr lang="en-US" i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i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^Existing city CCTV infrastructure can potentially be integrated through standard video/ANPR feeds.</a:t>
            </a:r>
          </a:p>
          <a:p>
            <a:endParaRPr lang="en-US" i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i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^Provides a foundation for city-wide traffic monitoring and analytics.</a:t>
            </a:r>
          </a:p>
          <a:p>
            <a:endParaRPr lang="en-US" dirty="0" smtClean="0">
              <a:solidFill>
                <a:srgbClr val="FFC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5338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1095375"/>
            <a:ext cx="4038600" cy="4339650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 smtClean="0">
                <a:solidFill>
                  <a:schemeClr val="tx2"/>
                </a:solidFill>
              </a:rPr>
              <a:t>Target Users</a:t>
            </a:r>
          </a:p>
          <a:p>
            <a:endParaRPr lang="en-US" dirty="0" smtClean="0"/>
          </a:p>
          <a:p>
            <a:r>
              <a:rPr lang="en-US" i="1" dirty="0" smtClean="0">
                <a:solidFill>
                  <a:srgbClr val="FE3E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&gt;Traffic Management </a:t>
            </a:r>
          </a:p>
          <a:p>
            <a:endParaRPr lang="en-US" i="1" dirty="0" smtClean="0">
              <a:solidFill>
                <a:srgbClr val="FE3E0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i="1" dirty="0" smtClean="0">
                <a:solidFill>
                  <a:srgbClr val="FE3E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&gt;Authorities</a:t>
            </a:r>
          </a:p>
          <a:p>
            <a:endParaRPr lang="en-US" i="1" dirty="0" smtClean="0">
              <a:solidFill>
                <a:srgbClr val="FE3E0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i="1" dirty="0" smtClean="0">
                <a:solidFill>
                  <a:srgbClr val="FE3E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&gt;Urban Planners</a:t>
            </a:r>
          </a:p>
          <a:p>
            <a:endParaRPr lang="en-US" i="1" dirty="0" smtClean="0">
              <a:solidFill>
                <a:srgbClr val="FE3E0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i="1" dirty="0" smtClean="0">
                <a:solidFill>
                  <a:srgbClr val="FE3E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&gt;Law Enforcement &amp; Authorized Agencies</a:t>
            </a:r>
          </a:p>
          <a:p>
            <a:endParaRPr lang="en-US" i="1" dirty="0" smtClean="0">
              <a:solidFill>
                <a:srgbClr val="FE3E0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i="1" dirty="0" smtClean="0">
                <a:solidFill>
                  <a:srgbClr val="FE3E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&gt;Emergency Response Teams</a:t>
            </a:r>
          </a:p>
          <a:p>
            <a:endParaRPr lang="en-US" i="1" dirty="0" smtClean="0">
              <a:solidFill>
                <a:srgbClr val="FE3E0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i="1" dirty="0" smtClean="0">
                <a:solidFill>
                  <a:srgbClr val="FE3E0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&gt;Smart City Operations Centers</a:t>
            </a:r>
          </a:p>
          <a:p>
            <a:endParaRPr lang="en-US" i="1" dirty="0">
              <a:solidFill>
                <a:srgbClr val="FE3E0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48200" y="1095375"/>
            <a:ext cx="7543799" cy="433965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Key Benefits</a:t>
            </a:r>
          </a:p>
          <a:p>
            <a:r>
              <a:rPr lang="en-US" i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City-Wide Vehicle Visibility:</a:t>
            </a:r>
          </a:p>
          <a:p>
            <a:r>
              <a:rPr lang="en-US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Connects vehicle observations across multiple cameras</a:t>
            </a:r>
          </a:p>
          <a:p>
            <a:endParaRPr lang="en-US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i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Faster Traffic Analysis:</a:t>
            </a:r>
          </a:p>
          <a:p>
            <a:r>
              <a:rPr lang="en-US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Provides real-time and historical vehicle movement insights.</a:t>
            </a:r>
          </a:p>
          <a:p>
            <a:endParaRPr lang="en-US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i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Reduced Manual Monitoring:</a:t>
            </a:r>
          </a:p>
          <a:p>
            <a:r>
              <a:rPr lang="en-US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Automates cross-camera vehicle tracking and trajectory generation.</a:t>
            </a:r>
          </a:p>
          <a:p>
            <a:endParaRPr lang="en-US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i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Improved Traffic Management:</a:t>
            </a:r>
          </a:p>
          <a:p>
            <a:r>
              <a:rPr lang="en-US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Identifies traffic flow patterns, congestion-prone zones and travel trends.</a:t>
            </a:r>
          </a:p>
          <a:p>
            <a:endParaRPr lang="en-US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i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Scalable Infrastructure:</a:t>
            </a:r>
          </a:p>
          <a:p>
            <a:r>
              <a:rPr lang="en-US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Can integrate additional cameras and monitoring zones as the network grows.</a:t>
            </a:r>
          </a:p>
        </p:txBody>
      </p:sp>
      <p:sp>
        <p:nvSpPr>
          <p:cNvPr id="10" name="Oval 9"/>
          <p:cNvSpPr/>
          <p:nvPr/>
        </p:nvSpPr>
        <p:spPr>
          <a:xfrm>
            <a:off x="329772" y="5495968"/>
            <a:ext cx="11700163" cy="122551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58387" y="5126636"/>
            <a:ext cx="7615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458387" y="5683348"/>
            <a:ext cx="76150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 smtClean="0">
                <a:solidFill>
                  <a:srgbClr val="C00000"/>
                </a:solidFill>
              </a:rPr>
              <a:t>Overall Impact</a:t>
            </a:r>
          </a:p>
          <a:p>
            <a:r>
              <a:rPr lang="en-US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Transforms isolated CCTV/ANPR feeds into a unified city-wide traffic intelligence system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3" name="Picture 12" descr="codenova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116404" cy="83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97144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9718" y="1095375"/>
            <a:ext cx="6240905" cy="5355312"/>
          </a:xfrm>
          <a:prstGeom prst="rect">
            <a:avLst/>
          </a:prstGeom>
          <a:noFill/>
          <a:ln>
            <a:solidFill>
              <a:schemeClr val="accent1"/>
            </a:solidFill>
            <a:prstDash val="lgDashDotDot"/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u="sng" dirty="0" smtClean="0">
                <a:solidFill>
                  <a:srgbClr val="FE3E02"/>
                </a:solidFill>
              </a:rPr>
              <a:t>Problem Statement </a:t>
            </a:r>
            <a:r>
              <a:rPr lang="en-US" b="1" u="sng" dirty="0" smtClean="0">
                <a:solidFill>
                  <a:srgbClr val="FE3E02"/>
                </a:solidFill>
              </a:rPr>
              <a:t>Reference </a:t>
            </a:r>
          </a:p>
          <a:p>
            <a:pPr marL="342900" indent="-342900"/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-SIH26127</a:t>
            </a:r>
            <a:endParaRPr lang="en-US" i="1" dirty="0" smtClean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/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-City-Wide </a:t>
            </a:r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 Engine for Multi-Camera ANPR Trajectory Tracking and Urban Traffic </a:t>
            </a:r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Analytics</a:t>
            </a:r>
          </a:p>
          <a:p>
            <a:pPr marL="342900" indent="-342900"/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-Organization</a:t>
            </a:r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Bharat Electronics Limited (BEL</a:t>
            </a:r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342900" indent="-342900"/>
            <a:endParaRPr lang="en-US" dirty="0" smtClean="0"/>
          </a:p>
          <a:p>
            <a:pPr marL="342900" indent="-342900"/>
            <a:r>
              <a:rPr lang="en-US" b="1" u="sng" dirty="0" smtClean="0">
                <a:solidFill>
                  <a:srgbClr val="FE3E02"/>
                </a:solidFill>
              </a:rPr>
              <a:t>2. Research Areas</a:t>
            </a:r>
          </a:p>
          <a:p>
            <a:pPr marL="342900" indent="-342900"/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*Automatic </a:t>
            </a:r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Number Plate Recognition (ANPR)</a:t>
            </a:r>
          </a:p>
          <a:p>
            <a:pPr marL="342900" indent="-342900"/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*Multi-Camera </a:t>
            </a:r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Vehicle Tracking</a:t>
            </a:r>
          </a:p>
          <a:p>
            <a:pPr marL="342900" indent="-342900"/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*Vehicle </a:t>
            </a:r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Re-Identification</a:t>
            </a:r>
          </a:p>
          <a:p>
            <a:pPr marL="342900" indent="-342900"/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</a:t>
            </a:r>
            <a:r>
              <a:rPr lang="en-US" i="1" dirty="0" err="1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Spatio</a:t>
            </a:r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-Temporal </a:t>
            </a:r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Trajectory Tracking Urban Traffic Analytics</a:t>
            </a:r>
          </a:p>
          <a:p>
            <a:pPr marL="342900" indent="-342900"/>
            <a:endParaRPr lang="en-US" dirty="0" smtClean="0"/>
          </a:p>
          <a:p>
            <a:pPr marL="342900" indent="-342900"/>
            <a:r>
              <a:rPr lang="en-US" b="1" u="sng" dirty="0" smtClean="0">
                <a:solidFill>
                  <a:srgbClr val="FE3E02"/>
                </a:solidFill>
              </a:rPr>
              <a:t>3</a:t>
            </a:r>
            <a:r>
              <a:rPr lang="en-US" b="1" u="sng" dirty="0" smtClean="0">
                <a:solidFill>
                  <a:srgbClr val="FE3E02"/>
                </a:solidFill>
              </a:rPr>
              <a:t>. Dataset / Data Resources</a:t>
            </a:r>
          </a:p>
          <a:p>
            <a:pPr marL="342900" indent="-342900"/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&gt;Public </a:t>
            </a:r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vehicle/traffic datasets</a:t>
            </a:r>
          </a:p>
          <a:p>
            <a:pPr marL="342900" indent="-342900"/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&gt;Public </a:t>
            </a:r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number-plate datasets</a:t>
            </a:r>
          </a:p>
          <a:p>
            <a:pPr marL="342900" indent="-342900"/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&gt;Recorded/simulated </a:t>
            </a:r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multi-camera traffic videos for prototype testing</a:t>
            </a:r>
          </a:p>
          <a:p>
            <a:pPr marL="342900" indent="-342900"/>
            <a:endParaRPr lang="en-US" dirty="0" smtClean="0"/>
          </a:p>
          <a:p>
            <a:pPr marL="342900" indent="-342900"/>
            <a:endParaRPr lang="en-US" dirty="0"/>
          </a:p>
        </p:txBody>
      </p:sp>
      <p:pic>
        <p:nvPicPr>
          <p:cNvPr id="10" name="Picture 9" descr="codenova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-4615"/>
            <a:ext cx="1195754" cy="8993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70623" y="3311366"/>
            <a:ext cx="5359313" cy="3139321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txBody>
          <a:bodyPr wrap="square" rtlCol="0">
            <a:spAutoFit/>
          </a:bodyPr>
          <a:lstStyle/>
          <a:p>
            <a:pPr marL="342900" indent="-342900"/>
            <a:r>
              <a:rPr lang="en-US" b="1" u="sng" dirty="0" smtClean="0">
                <a:solidFill>
                  <a:srgbClr val="FE3E02"/>
                </a:solidFill>
              </a:rPr>
              <a:t>6. </a:t>
            </a:r>
            <a:r>
              <a:rPr lang="en-US" b="1" u="sng" dirty="0" smtClean="0">
                <a:solidFill>
                  <a:srgbClr val="FE3E02"/>
                </a:solidFill>
              </a:rPr>
              <a:t>Reference </a:t>
            </a:r>
            <a:r>
              <a:rPr lang="en-US" b="1" u="sng" dirty="0" smtClean="0">
                <a:solidFill>
                  <a:srgbClr val="FE3E02"/>
                </a:solidFill>
              </a:rPr>
              <a:t>Sources</a:t>
            </a:r>
            <a:endParaRPr lang="en-US" b="1" u="sng" dirty="0" smtClean="0">
              <a:solidFill>
                <a:srgbClr val="FE3E02"/>
              </a:solidFill>
            </a:endParaRPr>
          </a:p>
          <a:p>
            <a:pPr marL="342900" indent="-342900"/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_</a:t>
            </a:r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Smart </a:t>
            </a:r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India </a:t>
            </a:r>
            <a:r>
              <a:rPr lang="en-US" i="1" dirty="0" err="1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Hackathon</a:t>
            </a:r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2026 — Official Problem Statement</a:t>
            </a:r>
          </a:p>
          <a:p>
            <a:pPr marL="342900" indent="-342900"/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_Research </a:t>
            </a:r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literature on ANPR and OCR</a:t>
            </a:r>
          </a:p>
          <a:p>
            <a:pPr marL="342900" indent="-342900"/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_Research </a:t>
            </a:r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literature on multi-camera vehicle tracking and </a:t>
            </a:r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re-identification</a:t>
            </a:r>
          </a:p>
          <a:p>
            <a:pPr marL="342900" indent="-342900"/>
            <a:endParaRPr lang="en-US" dirty="0" smtClean="0"/>
          </a:p>
          <a:p>
            <a:pPr marL="342900" indent="-342900"/>
            <a:r>
              <a:rPr lang="sv-SE" b="1" u="sng" dirty="0" smtClean="0">
                <a:solidFill>
                  <a:srgbClr val="FE3E02"/>
                </a:solidFill>
              </a:rPr>
              <a:t>7</a:t>
            </a:r>
            <a:r>
              <a:rPr lang="sv-SE" b="1" u="sng" dirty="0" smtClean="0">
                <a:solidFill>
                  <a:srgbClr val="FE3E02"/>
                </a:solidFill>
              </a:rPr>
              <a:t>. </a:t>
            </a:r>
            <a:r>
              <a:rPr lang="sv-SE" b="1" u="sng" dirty="0" smtClean="0">
                <a:solidFill>
                  <a:srgbClr val="FE3E02"/>
                </a:solidFill>
              </a:rPr>
              <a:t>Official SIH LinkSmart India Hackathon 2026 — </a:t>
            </a:r>
            <a:r>
              <a:rPr lang="sv-SE" dirty="0" smtClean="0">
                <a:solidFill>
                  <a:schemeClr val="tx2"/>
                </a:solidFill>
              </a:rPr>
              <a:t>SIH26127https://sih.gov.in/sih2026PS#ViewProblemStatement26127</a:t>
            </a:r>
            <a:endParaRPr lang="en-US" dirty="0" smtClean="0">
              <a:solidFill>
                <a:schemeClr val="tx2"/>
              </a:solidFill>
            </a:endParaRPr>
          </a:p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670623" y="1063837"/>
            <a:ext cx="5359313" cy="1754326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txBody>
          <a:bodyPr wrap="square" rtlCol="0">
            <a:spAutoFit/>
          </a:bodyPr>
          <a:lstStyle/>
          <a:p>
            <a:r>
              <a:rPr lang="en-US" b="1" u="sng" dirty="0" smtClean="0">
                <a:solidFill>
                  <a:srgbClr val="FE3E02"/>
                </a:solidFill>
              </a:rPr>
              <a:t>6. Technical Documentation Used</a:t>
            </a:r>
          </a:p>
          <a:p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^Python </a:t>
            </a:r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— Backend &amp; AI </a:t>
            </a:r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development</a:t>
            </a:r>
          </a:p>
          <a:p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^</a:t>
            </a:r>
            <a:r>
              <a:rPr lang="en-US" i="1" dirty="0" err="1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OpenCV</a:t>
            </a:r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— Image/video </a:t>
            </a:r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processing</a:t>
            </a:r>
          </a:p>
          <a:p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^YOLO </a:t>
            </a:r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— Vehicle </a:t>
            </a:r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detection</a:t>
            </a:r>
          </a:p>
          <a:p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^</a:t>
            </a:r>
            <a:r>
              <a:rPr lang="en-US" i="1" dirty="0" err="1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FastAPI</a:t>
            </a:r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— Backend API </a:t>
            </a:r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development</a:t>
            </a:r>
          </a:p>
          <a:p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^</a:t>
            </a:r>
            <a:r>
              <a:rPr lang="en-US" i="1" dirty="0" err="1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PostgreSQL</a:t>
            </a:r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— Data </a:t>
            </a:r>
            <a:r>
              <a:rPr lang="en-US" i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management</a:t>
            </a:r>
          </a:p>
        </p:txBody>
      </p:sp>
    </p:spTree>
    <p:extLst>
      <p:ext uri="{BB962C8B-B14F-4D97-AF65-F5344CB8AC3E}">
        <p14:creationId xmlns:p14="http://schemas.microsoft.com/office/powerpoint/2010/main" xmlns="" val="3916788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7778</TotalTime>
  <Words>754</Words>
  <Application>Microsoft Office PowerPoint</Application>
  <PresentationFormat>Custom</PresentationFormat>
  <Paragraphs>166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2026</vt:lpstr>
      <vt:lpstr> CityTrace AI</vt:lpstr>
      <vt:lpstr>TECHNICAL 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HP</cp:lastModifiedBy>
  <cp:revision>179</cp:revision>
  <dcterms:created xsi:type="dcterms:W3CDTF">2013-12-12T18:46:50Z</dcterms:created>
  <dcterms:modified xsi:type="dcterms:W3CDTF">2026-08-29T11:00:00Z</dcterms:modified>
  <cp:category/>
</cp:coreProperties>
</file>